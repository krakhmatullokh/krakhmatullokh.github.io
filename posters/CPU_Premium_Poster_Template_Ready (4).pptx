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</p:sldIdLst>
  <p:sldSz cx="43199685" cy="3239960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590" y="1143000"/>
            <a:ext cx="411482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200000" cy="5040000"/>
          </a:xfrm>
          <a:prstGeom prst="rect">
            <a:avLst/>
          </a:prstGeom>
          <a:solidFill>
            <a:srgbClr val="00205B"/>
          </a:solidFill>
          <a:ln w="38100">
            <a:solidFill>
              <a:srgbClr val="C8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90" y="360045"/>
            <a:ext cx="38879145" cy="4492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FFFFFF"/>
                </a:solidFill>
              </a:defRPr>
            </a:pPr>
            <a:r>
              <a:rPr lang="en-US" altLang="en-GB"/>
              <a:t>Detection of Aβ Aggregation by Aggregation-Induced Emission (AIE) Probes in Alzheimer’s Disease</a:t>
            </a:r>
            <a:endParaRPr lang="en-US" altLang="en-GB"/>
          </a:p>
          <a:p>
            <a:pPr algn="ctr">
              <a:defRPr sz="8000" b="1">
                <a:solidFill>
                  <a:srgbClr val="FFFFFF"/>
                </a:solidFill>
              </a:defRPr>
            </a:pPr>
            <a:r>
              <a:rPr lang="en-GB" altLang="en-US" sz="6000"/>
              <a:t>Haider Alam, Rakhmatullokh</a:t>
            </a:r>
            <a:r>
              <a:rPr lang="en-GB" altLang="en-US" sz="6000"/>
              <a:t> Kakhramonov(Presenting Author)</a:t>
            </a:r>
            <a:endParaRPr lang="en-GB" altLang="en-US" sz="6000"/>
          </a:p>
          <a:p>
            <a:pPr algn="ctr">
              <a:defRPr sz="8000" b="1">
                <a:solidFill>
                  <a:srgbClr val="FFFFFF"/>
                </a:solidFill>
              </a:defRPr>
            </a:pPr>
            <a:r>
              <a:rPr lang="en-US" altLang="en-GB" sz="6600"/>
              <a:t>School of International Education, China Pharmaceutical University, Nanjing, China</a:t>
            </a:r>
            <a:endParaRPr lang="en-US" altLang="en-GB" sz="6600"/>
          </a:p>
        </p:txBody>
      </p:sp>
      <p:pic>
        <p:nvPicPr>
          <p:cNvPr id="5" name="Picture 4" descr="e20ecc0f-ea92-4e6b-888c-a8b2f381382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31485" y="720045"/>
            <a:ext cx="3600000" cy="3600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26440" y="5572125"/>
            <a:ext cx="12987655" cy="11806555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02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4200" b="1">
                <a:solidFill>
                  <a:srgbClr val="00205B"/>
                </a:solidFill>
              </a:defRPr>
            </a:pPr>
            <a:r>
              <a:t>Background</a:t>
            </a:r>
          </a:p>
          <a:p>
            <a:pPr algn="l">
              <a:defRPr sz="4200" b="1">
                <a:solidFill>
                  <a:srgbClr val="00205B"/>
                </a:solidFill>
              </a:defRPr>
            </a:pPr>
            <a:r>
              <a:rPr lang="en-US" altLang="en-GB" b="0"/>
              <a:t>Alzheimer’s disease (AD) involves the accumulation of amyloid-β (Aβ) aggregates, including oligomers, protofibrils, and fibrils. Soluble oligomers are</a:t>
            </a:r>
            <a:r>
              <a:rPr lang="en-GB" altLang="en-US" b="0"/>
              <a:t> </a:t>
            </a:r>
            <a:r>
              <a:rPr lang="en-US" altLang="en-GB" b="0"/>
              <a:t>considered the most neurotoxic yet remain difficult to detect due to their transient and heterogeneous nature.</a:t>
            </a:r>
            <a:r>
              <a:rPr lang="en-GB" altLang="en-US" b="0"/>
              <a:t> </a:t>
            </a:r>
            <a:r>
              <a:rPr lang="en-US" altLang="en-GB" b="0"/>
              <a:t>Traditional dyes such as Thioflavin T and Congo Red suffer from aggregation-caused quenching (ACQ), low selectivity, photobleaching, and background interference, limiting their usefulness in early diagnosis and in vivo imaging.</a:t>
            </a:r>
            <a:r>
              <a:rPr lang="en-GB" altLang="en-US" b="0"/>
              <a:t> </a:t>
            </a:r>
            <a:r>
              <a:rPr lang="en-US" altLang="en-GB" b="0"/>
              <a:t>Aggregation-Induced Emission (AIE) probes address these limitations through a “dark-to-bright” activation: they are non-emissive in solution but strongly fluorescent when bound to Aβ aggregates. This mechanism provides high sensitivity and minimal background noise.</a:t>
            </a:r>
            <a:endParaRPr lang="en-US" altLang="en-GB" b="0"/>
          </a:p>
        </p:txBody>
      </p:sp>
      <p:sp>
        <p:nvSpPr>
          <p:cNvPr id="7" name="Rounded Rectangle 6"/>
          <p:cNvSpPr/>
          <p:nvPr/>
        </p:nvSpPr>
        <p:spPr>
          <a:xfrm>
            <a:off x="711200" y="17657445"/>
            <a:ext cx="13059410" cy="674624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02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4200" b="1">
                <a:solidFill>
                  <a:srgbClr val="00205B"/>
                </a:solidFill>
              </a:defRPr>
            </a:pPr>
            <a:r>
              <a:t>Objectives</a:t>
            </a:r>
            <a:r>
              <a:rPr lang="en-GB"/>
              <a:t>:</a:t>
            </a:r>
            <a:endParaRPr lang="en-GB"/>
          </a:p>
          <a:p>
            <a:pPr algn="l">
              <a:defRPr sz="4200" b="1">
                <a:solidFill>
                  <a:srgbClr val="00205B"/>
                </a:solidFill>
              </a:defRPr>
            </a:pPr>
            <a:r>
              <a:rPr lang="en-US" altLang="en-GB" b="0"/>
              <a:t>The objectives of this work are outlined as follows:</a:t>
            </a:r>
            <a:endParaRPr lang="en-US" altLang="en-GB" b="0"/>
          </a:p>
          <a:p>
            <a:pPr marL="571500" indent="-571500" algn="l">
              <a:buFont typeface="Arial" panose="020B0604020202020204" pitchFamily="34" charset="0"/>
              <a:buChar char="•"/>
              <a:defRPr sz="4200" b="1">
                <a:solidFill>
                  <a:srgbClr val="00205B"/>
                </a:solidFill>
              </a:defRPr>
            </a:pPr>
            <a:r>
              <a:rPr lang="en-US" altLang="en-GB" b="0"/>
              <a:t>To evaluate the performance of AIE-based fluorescent probes in detecting Aβ aggregates.</a:t>
            </a:r>
            <a:endParaRPr lang="en-US" altLang="en-GB" b="0"/>
          </a:p>
          <a:p>
            <a:pPr marL="571500" indent="-571500" algn="l">
              <a:buFont typeface="Arial" panose="020B0604020202020204" pitchFamily="34" charset="0"/>
              <a:buChar char="•"/>
              <a:defRPr sz="4200" b="1">
                <a:solidFill>
                  <a:srgbClr val="00205B"/>
                </a:solidFill>
              </a:defRPr>
            </a:pPr>
            <a:r>
              <a:rPr lang="en-US" altLang="en-GB" b="0"/>
              <a:t>To analyze representative AIE molecules and their mechanisms of fluorescence activation.</a:t>
            </a:r>
            <a:endParaRPr lang="en-US" altLang="en-GB" b="0"/>
          </a:p>
          <a:p>
            <a:pPr marL="571500" indent="-571500" algn="l">
              <a:buFont typeface="Arial" panose="020B0604020202020204" pitchFamily="34" charset="0"/>
              <a:buChar char="•"/>
              <a:defRPr sz="4200" b="1">
                <a:solidFill>
                  <a:srgbClr val="00205B"/>
                </a:solidFill>
              </a:defRPr>
            </a:pPr>
            <a:r>
              <a:rPr lang="en-US" altLang="en-GB" b="0"/>
              <a:t>To compare their advantages over traditional amyloid detection tools.</a:t>
            </a:r>
            <a:endParaRPr lang="en-US" altLang="en-GB" b="0"/>
          </a:p>
          <a:p>
            <a:pPr marL="571500" indent="-571500" algn="l">
              <a:buFont typeface="Arial" panose="020B0604020202020204" pitchFamily="34" charset="0"/>
              <a:buChar char="•"/>
              <a:defRPr sz="4200" b="1">
                <a:solidFill>
                  <a:srgbClr val="00205B"/>
                </a:solidFill>
              </a:defRPr>
            </a:pPr>
            <a:r>
              <a:rPr lang="en-US" altLang="en-GB" b="0"/>
              <a:t>To highlight the potential of AIE probes for early diagnosis and theranostic applications in AD.</a:t>
            </a:r>
            <a:endParaRPr lang="en-US" altLang="en-GB" b="0"/>
          </a:p>
        </p:txBody>
      </p:sp>
      <p:sp>
        <p:nvSpPr>
          <p:cNvPr id="9" name="Rounded Rectangle 8"/>
          <p:cNvSpPr/>
          <p:nvPr/>
        </p:nvSpPr>
        <p:spPr>
          <a:xfrm>
            <a:off x="14700885" y="5469890"/>
            <a:ext cx="13378815" cy="136017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02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200" b="1">
                <a:solidFill>
                  <a:srgbClr val="00205B"/>
                </a:solidFill>
              </a:defRPr>
            </a:pPr>
            <a:r>
              <a:rPr lang="en-US" altLang="en-GB"/>
              <a:t>Key Findings from Representative AIE Probes</a:t>
            </a:r>
            <a:endParaRPr lang="en-US" altLang="en-GB"/>
          </a:p>
        </p:txBody>
      </p:sp>
      <p:sp>
        <p:nvSpPr>
          <p:cNvPr id="10" name="Rounded Rectangle 9"/>
          <p:cNvSpPr/>
          <p:nvPr/>
        </p:nvSpPr>
        <p:spPr>
          <a:xfrm>
            <a:off x="28872815" y="13845540"/>
            <a:ext cx="13185140" cy="5617845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02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4200" b="1">
                <a:solidFill>
                  <a:srgbClr val="00205B"/>
                </a:solidFill>
              </a:defRPr>
            </a:pPr>
            <a:r>
              <a:rPr sz="5400"/>
              <a:t>Conclusion</a:t>
            </a:r>
            <a:endParaRPr sz="5400"/>
          </a:p>
          <a:p>
            <a:pPr algn="l">
              <a:defRPr sz="4200" b="1">
                <a:solidFill>
                  <a:srgbClr val="00205B"/>
                </a:solidFill>
              </a:defRPr>
            </a:pPr>
            <a:r>
              <a:rPr lang="en-US" altLang="en-GB" b="0"/>
              <a:t>AIE-based probes provide highly sensitive, selective, and stable “light-up” detection of Aβ aggregates. Their tunable structures and strong fluorescence responses make them promising tools for early Alzheimer’s diagnosis and for developing future Aβ-targeted imaging and theranostic strategies.</a:t>
            </a:r>
            <a:endParaRPr lang="en-US" altLang="en-GB" b="0"/>
          </a:p>
        </p:txBody>
      </p:sp>
      <p:sp>
        <p:nvSpPr>
          <p:cNvPr id="14" name="Rounded Rectangle 13"/>
          <p:cNvSpPr/>
          <p:nvPr/>
        </p:nvSpPr>
        <p:spPr>
          <a:xfrm>
            <a:off x="29519880" y="27696795"/>
            <a:ext cx="12959715" cy="430276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02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00000"/>
              </a:lnSpc>
              <a:defRPr sz="4200" b="1">
                <a:solidFill>
                  <a:srgbClr val="00205B"/>
                </a:solidFill>
              </a:defRPr>
            </a:pPr>
            <a:r>
              <a:rPr lang="en-GB">
                <a:sym typeface="+mn-ea"/>
              </a:rPr>
              <a:t>           Poster                                            </a:t>
            </a:r>
            <a:endParaRPr lang="en-GB">
              <a:sym typeface="+mn-ea"/>
            </a:endParaRPr>
          </a:p>
          <a:p>
            <a:pPr algn="l">
              <a:lnSpc>
                <a:spcPct val="100000"/>
              </a:lnSpc>
              <a:defRPr sz="4200" b="1">
                <a:solidFill>
                  <a:srgbClr val="00205B"/>
                </a:solidFill>
              </a:defRPr>
            </a:pPr>
            <a:r>
              <a:rPr lang="en-GB">
                <a:sym typeface="+mn-ea"/>
              </a:rPr>
              <a:t>           Digital</a:t>
            </a:r>
            <a:endParaRPr lang="en-GB">
              <a:sym typeface="+mn-ea"/>
            </a:endParaRPr>
          </a:p>
          <a:p>
            <a:pPr algn="l">
              <a:lnSpc>
                <a:spcPct val="100000"/>
              </a:lnSpc>
              <a:defRPr sz="4200" b="1">
                <a:solidFill>
                  <a:srgbClr val="00205B"/>
                </a:solidFill>
              </a:defRPr>
            </a:pPr>
            <a:r>
              <a:rPr lang="en-GB">
                <a:sym typeface="+mn-ea"/>
              </a:rPr>
              <a:t>           Version                                        </a:t>
            </a:r>
            <a:endParaRPr>
              <a:sym typeface="+mn-ea"/>
            </a:endParaRPr>
          </a:p>
          <a:p>
            <a:pPr algn="l">
              <a:lnSpc>
                <a:spcPct val="100000"/>
              </a:lnSpc>
              <a:defRPr sz="4200" b="1">
                <a:solidFill>
                  <a:srgbClr val="00205B"/>
                </a:solidFill>
              </a:defRPr>
            </a:pPr>
          </a:p>
          <a:p>
            <a:pPr algn="l">
              <a:lnSpc>
                <a:spcPct val="100000"/>
              </a:lnSpc>
              <a:defRPr sz="4200" b="1">
                <a:solidFill>
                  <a:srgbClr val="00205B"/>
                </a:solidFill>
              </a:defRPr>
            </a:pPr>
          </a:p>
        </p:txBody>
      </p:sp>
      <p:sp>
        <p:nvSpPr>
          <p:cNvPr id="4" name="Rounded Rectangle 3"/>
          <p:cNvSpPr/>
          <p:nvPr/>
        </p:nvSpPr>
        <p:spPr>
          <a:xfrm>
            <a:off x="28929330" y="5469890"/>
            <a:ext cx="13084175" cy="8108315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002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4200" b="1">
                <a:solidFill>
                  <a:srgbClr val="00205B"/>
                </a:solidFill>
              </a:defRPr>
            </a:pPr>
            <a:r>
              <a:rPr lang="en-GB" altLang="en-US" sz="4400"/>
              <a:t>Methods</a:t>
            </a:r>
            <a:endParaRPr lang="en-GB" altLang="en-US" sz="4400"/>
          </a:p>
          <a:p>
            <a:pPr algn="l">
              <a:defRPr sz="4200" b="1">
                <a:solidFill>
                  <a:srgbClr val="00205B"/>
                </a:solidFill>
              </a:defRPr>
            </a:pPr>
            <a:r>
              <a:rPr lang="en-US" altLang="en-GB" sz="3600" b="0"/>
              <a:t>We analyzed representative AIE-based probes by examining their molecular structures, fluorescence activation mechanisms, and spectral responses (Figures 1–4, 7). Key parameters evaluated included:</a:t>
            </a:r>
            <a:endParaRPr lang="en-US" altLang="en-GB" sz="3600" b="0"/>
          </a:p>
          <a:p>
            <a:pPr algn="l">
              <a:defRPr sz="4200" b="1">
                <a:solidFill>
                  <a:srgbClr val="00205B"/>
                </a:solidFill>
              </a:defRPr>
            </a:pPr>
            <a:endParaRPr lang="en-US" altLang="en-GB" sz="3600" b="0"/>
          </a:p>
          <a:p>
            <a:pPr marL="571500" indent="-571500" algn="l">
              <a:buFont typeface="Arial" panose="020B0604020202020204" pitchFamily="34" charset="0"/>
              <a:buChar char="•"/>
              <a:defRPr sz="4200" b="1">
                <a:solidFill>
                  <a:srgbClr val="00205B"/>
                </a:solidFill>
              </a:defRPr>
            </a:pPr>
            <a:r>
              <a:rPr lang="en-US" altLang="en-GB" sz="3600" b="0"/>
              <a:t>Turn-on fluorescence upon Aβ binding</a:t>
            </a:r>
            <a:endParaRPr lang="en-US" altLang="en-GB" sz="3600" b="0"/>
          </a:p>
          <a:p>
            <a:pPr marL="571500" indent="-571500" algn="l">
              <a:buFont typeface="Arial" panose="020B0604020202020204" pitchFamily="34" charset="0"/>
              <a:buChar char="•"/>
              <a:defRPr sz="4200" b="1">
                <a:solidFill>
                  <a:srgbClr val="00205B"/>
                </a:solidFill>
              </a:defRPr>
            </a:pPr>
            <a:r>
              <a:rPr lang="en-US" altLang="en-GB" sz="3600" b="0"/>
              <a:t>Selectivity toward different Aβ species</a:t>
            </a:r>
            <a:endParaRPr lang="en-US" altLang="en-GB" sz="3600" b="0"/>
          </a:p>
          <a:p>
            <a:pPr marL="571500" indent="-571500" algn="l">
              <a:buFont typeface="Arial" panose="020B0604020202020204" pitchFamily="34" charset="0"/>
              <a:buChar char="•"/>
              <a:defRPr sz="4200" b="1">
                <a:solidFill>
                  <a:srgbClr val="00205B"/>
                </a:solidFill>
              </a:defRPr>
            </a:pPr>
            <a:r>
              <a:rPr lang="en-US" altLang="en-GB" sz="3600" b="0"/>
              <a:t>Emission wavelength shifts</a:t>
            </a:r>
            <a:endParaRPr lang="en-US" altLang="en-GB" sz="3600" b="0"/>
          </a:p>
          <a:p>
            <a:pPr marL="571500" indent="-571500" algn="l">
              <a:buFont typeface="Arial" panose="020B0604020202020204" pitchFamily="34" charset="0"/>
              <a:buChar char="•"/>
              <a:defRPr sz="4200" b="1">
                <a:solidFill>
                  <a:srgbClr val="00205B"/>
                </a:solidFill>
              </a:defRPr>
            </a:pPr>
            <a:r>
              <a:rPr lang="en-US" altLang="en-GB" sz="3600" b="0"/>
              <a:t>Molecular design features influencing AIE behavior</a:t>
            </a:r>
            <a:endParaRPr lang="en-US" altLang="en-GB" sz="3600" b="0"/>
          </a:p>
          <a:p>
            <a:pPr algn="l">
              <a:defRPr sz="4200" b="1">
                <a:solidFill>
                  <a:srgbClr val="00205B"/>
                </a:solidFill>
              </a:defRPr>
            </a:pPr>
            <a:endParaRPr lang="en-US" altLang="en-GB" sz="3600" b="0"/>
          </a:p>
          <a:p>
            <a:pPr algn="l">
              <a:defRPr sz="4200" b="1">
                <a:solidFill>
                  <a:srgbClr val="00205B"/>
                </a:solidFill>
              </a:defRPr>
            </a:pPr>
            <a:r>
              <a:rPr lang="en-US" altLang="en-GB" sz="3600" b="0"/>
              <a:t>Comparative data from recent studies were used to evaluate probe performance and biological applicability.</a:t>
            </a:r>
            <a:endParaRPr lang="en-US" altLang="en-GB" sz="3600" b="0"/>
          </a:p>
          <a:p>
            <a:pPr algn="l">
              <a:defRPr sz="4200" b="1">
                <a:solidFill>
                  <a:srgbClr val="00205B"/>
                </a:solidFill>
              </a:defRPr>
            </a:pPr>
            <a:endParaRPr lang="en-GB" altLang="en-US" sz="3600" b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440" y="24599265"/>
            <a:ext cx="13688060" cy="780034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00885" y="6917690"/>
            <a:ext cx="13241655" cy="788162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01875" y="14886940"/>
            <a:ext cx="12639675" cy="7201535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01875" y="21570950"/>
            <a:ext cx="12966065" cy="1048512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582110" y="19730720"/>
            <a:ext cx="12902565" cy="7551420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17535" y="27994610"/>
            <a:ext cx="3707765" cy="37077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2346</Words>
  <Application>WPS Presentation</Application>
  <PresentationFormat>On-screen Show (4:3)</PresentationFormat>
  <Paragraphs>36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Rakhmatullokh Kakhramonov</cp:lastModifiedBy>
  <cp:revision>7</cp:revision>
  <dcterms:created xsi:type="dcterms:W3CDTF">2013-01-27T09:14:00Z</dcterms:created>
  <dcterms:modified xsi:type="dcterms:W3CDTF">2025-12-04T17:35:19Z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E2F8FF69741E49A4B6B21DAC7964716A_13</vt:lpwstr>
  </property>
  <property fmtid="{D5CDD505-2E9C-101B-9397-08002B2CF9AE}" pid="3" name="KSOProductBuildVer">
    <vt:lpwstr>2057-12.2.0.23155</vt:lpwstr>
  </property>
</Properties>
</file>